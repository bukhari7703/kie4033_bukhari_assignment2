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73" r:id="rId2"/>
    <p:sldId id="258" r:id="rId3"/>
    <p:sldId id="259" r:id="rId4"/>
    <p:sldId id="260" r:id="rId5"/>
    <p:sldId id="266" r:id="rId6"/>
    <p:sldId id="265" r:id="rId7"/>
    <p:sldId id="267" r:id="rId8"/>
    <p:sldId id="268" r:id="rId9"/>
    <p:sldId id="269" r:id="rId10"/>
    <p:sldId id="270" r:id="rId11"/>
    <p:sldId id="271" r:id="rId12"/>
    <p:sldId id="272" r:id="rId13"/>
  </p:sldIdLst>
  <p:sldSz cx="13131800" cy="7386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133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1475" y="1208879"/>
            <a:ext cx="9848850" cy="2571644"/>
          </a:xfrm>
        </p:spPr>
        <p:txBody>
          <a:bodyPr anchor="b"/>
          <a:lstStyle>
            <a:lvl1pPr algn="ctr">
              <a:defRPr sz="64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1475" y="3879695"/>
            <a:ext cx="9848850" cy="1783394"/>
          </a:xfrm>
        </p:spPr>
        <p:txBody>
          <a:bodyPr/>
          <a:lstStyle>
            <a:lvl1pPr marL="0" indent="0" algn="ctr">
              <a:buNone/>
              <a:defRPr sz="2585"/>
            </a:lvl1pPr>
            <a:lvl2pPr marL="492450" indent="0" algn="ctr">
              <a:buNone/>
              <a:defRPr sz="2154"/>
            </a:lvl2pPr>
            <a:lvl3pPr marL="984900" indent="0" algn="ctr">
              <a:buNone/>
              <a:defRPr sz="1939"/>
            </a:lvl3pPr>
            <a:lvl4pPr marL="1477350" indent="0" algn="ctr">
              <a:buNone/>
              <a:defRPr sz="1723"/>
            </a:lvl4pPr>
            <a:lvl5pPr marL="1969800" indent="0" algn="ctr">
              <a:buNone/>
              <a:defRPr sz="1723"/>
            </a:lvl5pPr>
            <a:lvl6pPr marL="2462251" indent="0" algn="ctr">
              <a:buNone/>
              <a:defRPr sz="1723"/>
            </a:lvl6pPr>
            <a:lvl7pPr marL="2954701" indent="0" algn="ctr">
              <a:buNone/>
              <a:defRPr sz="1723"/>
            </a:lvl7pPr>
            <a:lvl8pPr marL="3447151" indent="0" algn="ctr">
              <a:buNone/>
              <a:defRPr sz="1723"/>
            </a:lvl8pPr>
            <a:lvl9pPr marL="3939601" indent="0" algn="ctr">
              <a:buNone/>
              <a:defRPr sz="17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24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85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972" y="1841531"/>
            <a:ext cx="11326178" cy="3072636"/>
          </a:xfrm>
        </p:spPr>
        <p:txBody>
          <a:bodyPr anchor="b"/>
          <a:lstStyle>
            <a:lvl1pPr>
              <a:defRPr sz="64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972" y="4943235"/>
            <a:ext cx="11326178" cy="1615827"/>
          </a:xfrm>
        </p:spPr>
        <p:txBody>
          <a:bodyPr/>
          <a:lstStyle>
            <a:lvl1pPr marL="0" indent="0">
              <a:buNone/>
              <a:defRPr sz="2585">
                <a:solidFill>
                  <a:schemeClr val="tx1">
                    <a:tint val="82000"/>
                  </a:schemeClr>
                </a:solidFill>
              </a:defRPr>
            </a:lvl1pPr>
            <a:lvl2pPr marL="492450" indent="0">
              <a:buNone/>
              <a:defRPr sz="2154">
                <a:solidFill>
                  <a:schemeClr val="tx1">
                    <a:tint val="82000"/>
                  </a:schemeClr>
                </a:solidFill>
              </a:defRPr>
            </a:lvl2pPr>
            <a:lvl3pPr marL="984900" indent="0">
              <a:buNone/>
              <a:defRPr sz="1939">
                <a:solidFill>
                  <a:schemeClr val="tx1">
                    <a:tint val="82000"/>
                  </a:schemeClr>
                </a:solidFill>
              </a:defRPr>
            </a:lvl3pPr>
            <a:lvl4pPr marL="1477350" indent="0">
              <a:buNone/>
              <a:defRPr sz="1723">
                <a:solidFill>
                  <a:schemeClr val="tx1">
                    <a:tint val="82000"/>
                  </a:schemeClr>
                </a:solidFill>
              </a:defRPr>
            </a:lvl4pPr>
            <a:lvl5pPr marL="1969800" indent="0">
              <a:buNone/>
              <a:defRPr sz="1723">
                <a:solidFill>
                  <a:schemeClr val="tx1">
                    <a:tint val="82000"/>
                  </a:schemeClr>
                </a:solidFill>
              </a:defRPr>
            </a:lvl5pPr>
            <a:lvl6pPr marL="2462251" indent="0">
              <a:buNone/>
              <a:defRPr sz="1723">
                <a:solidFill>
                  <a:schemeClr val="tx1">
                    <a:tint val="82000"/>
                  </a:schemeClr>
                </a:solidFill>
              </a:defRPr>
            </a:lvl6pPr>
            <a:lvl7pPr marL="2954701" indent="0">
              <a:buNone/>
              <a:defRPr sz="1723">
                <a:solidFill>
                  <a:schemeClr val="tx1">
                    <a:tint val="82000"/>
                  </a:schemeClr>
                </a:solidFill>
              </a:defRPr>
            </a:lvl7pPr>
            <a:lvl8pPr marL="3447151" indent="0">
              <a:buNone/>
              <a:defRPr sz="1723">
                <a:solidFill>
                  <a:schemeClr val="tx1">
                    <a:tint val="82000"/>
                  </a:schemeClr>
                </a:solidFill>
              </a:defRPr>
            </a:lvl8pPr>
            <a:lvl9pPr marL="3939601" indent="0">
              <a:buNone/>
              <a:defRPr sz="17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35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2811" y="1966350"/>
            <a:ext cx="5581015" cy="46867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974" y="1966350"/>
            <a:ext cx="5581015" cy="46867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17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521" y="393271"/>
            <a:ext cx="11326178" cy="1427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522" y="1810753"/>
            <a:ext cx="5555366" cy="887422"/>
          </a:xfrm>
        </p:spPr>
        <p:txBody>
          <a:bodyPr anchor="b"/>
          <a:lstStyle>
            <a:lvl1pPr marL="0" indent="0">
              <a:buNone/>
              <a:defRPr sz="2585" b="1"/>
            </a:lvl1pPr>
            <a:lvl2pPr marL="492450" indent="0">
              <a:buNone/>
              <a:defRPr sz="2154" b="1"/>
            </a:lvl2pPr>
            <a:lvl3pPr marL="984900" indent="0">
              <a:buNone/>
              <a:defRPr sz="1939" b="1"/>
            </a:lvl3pPr>
            <a:lvl4pPr marL="1477350" indent="0">
              <a:buNone/>
              <a:defRPr sz="1723" b="1"/>
            </a:lvl4pPr>
            <a:lvl5pPr marL="1969800" indent="0">
              <a:buNone/>
              <a:defRPr sz="1723" b="1"/>
            </a:lvl5pPr>
            <a:lvl6pPr marL="2462251" indent="0">
              <a:buNone/>
              <a:defRPr sz="1723" b="1"/>
            </a:lvl6pPr>
            <a:lvl7pPr marL="2954701" indent="0">
              <a:buNone/>
              <a:defRPr sz="1723" b="1"/>
            </a:lvl7pPr>
            <a:lvl8pPr marL="3447151" indent="0">
              <a:buNone/>
              <a:defRPr sz="1723" b="1"/>
            </a:lvl8pPr>
            <a:lvl9pPr marL="3939601" indent="0">
              <a:buNone/>
              <a:defRPr sz="17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4522" y="2698175"/>
            <a:ext cx="5555366" cy="39686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47974" y="1810753"/>
            <a:ext cx="5582725" cy="887422"/>
          </a:xfrm>
        </p:spPr>
        <p:txBody>
          <a:bodyPr anchor="b"/>
          <a:lstStyle>
            <a:lvl1pPr marL="0" indent="0">
              <a:buNone/>
              <a:defRPr sz="2585" b="1"/>
            </a:lvl1pPr>
            <a:lvl2pPr marL="492450" indent="0">
              <a:buNone/>
              <a:defRPr sz="2154" b="1"/>
            </a:lvl2pPr>
            <a:lvl3pPr marL="984900" indent="0">
              <a:buNone/>
              <a:defRPr sz="1939" b="1"/>
            </a:lvl3pPr>
            <a:lvl4pPr marL="1477350" indent="0">
              <a:buNone/>
              <a:defRPr sz="1723" b="1"/>
            </a:lvl4pPr>
            <a:lvl5pPr marL="1969800" indent="0">
              <a:buNone/>
              <a:defRPr sz="1723" b="1"/>
            </a:lvl5pPr>
            <a:lvl6pPr marL="2462251" indent="0">
              <a:buNone/>
              <a:defRPr sz="1723" b="1"/>
            </a:lvl6pPr>
            <a:lvl7pPr marL="2954701" indent="0">
              <a:buNone/>
              <a:defRPr sz="1723" b="1"/>
            </a:lvl7pPr>
            <a:lvl8pPr marL="3447151" indent="0">
              <a:buNone/>
              <a:defRPr sz="1723" b="1"/>
            </a:lvl8pPr>
            <a:lvl9pPr marL="3939601" indent="0">
              <a:buNone/>
              <a:defRPr sz="17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47974" y="2698175"/>
            <a:ext cx="5582725" cy="39686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35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87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53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522" y="492442"/>
            <a:ext cx="4235347" cy="1723549"/>
          </a:xfrm>
        </p:spPr>
        <p:txBody>
          <a:bodyPr anchor="b"/>
          <a:lstStyle>
            <a:lvl1pPr>
              <a:defRPr sz="34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2725" y="1063539"/>
            <a:ext cx="6647974" cy="5249301"/>
          </a:xfrm>
        </p:spPr>
        <p:txBody>
          <a:bodyPr/>
          <a:lstStyle>
            <a:lvl1pPr>
              <a:defRPr sz="3447"/>
            </a:lvl1pPr>
            <a:lvl2pPr>
              <a:defRPr sz="3016"/>
            </a:lvl2pPr>
            <a:lvl3pPr>
              <a:defRPr sz="2585"/>
            </a:lvl3pPr>
            <a:lvl4pPr>
              <a:defRPr sz="2154"/>
            </a:lvl4pPr>
            <a:lvl5pPr>
              <a:defRPr sz="2154"/>
            </a:lvl5pPr>
            <a:lvl6pPr>
              <a:defRPr sz="2154"/>
            </a:lvl6pPr>
            <a:lvl7pPr>
              <a:defRPr sz="2154"/>
            </a:lvl7pPr>
            <a:lvl8pPr>
              <a:defRPr sz="2154"/>
            </a:lvl8pPr>
            <a:lvl9pPr>
              <a:defRPr sz="21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4522" y="2215991"/>
            <a:ext cx="4235347" cy="4105398"/>
          </a:xfrm>
        </p:spPr>
        <p:txBody>
          <a:bodyPr/>
          <a:lstStyle>
            <a:lvl1pPr marL="0" indent="0">
              <a:buNone/>
              <a:defRPr sz="1723"/>
            </a:lvl1pPr>
            <a:lvl2pPr marL="492450" indent="0">
              <a:buNone/>
              <a:defRPr sz="1508"/>
            </a:lvl2pPr>
            <a:lvl3pPr marL="984900" indent="0">
              <a:buNone/>
              <a:defRPr sz="1293"/>
            </a:lvl3pPr>
            <a:lvl4pPr marL="1477350" indent="0">
              <a:buNone/>
              <a:defRPr sz="1077"/>
            </a:lvl4pPr>
            <a:lvl5pPr marL="1969800" indent="0">
              <a:buNone/>
              <a:defRPr sz="1077"/>
            </a:lvl5pPr>
            <a:lvl6pPr marL="2462251" indent="0">
              <a:buNone/>
              <a:defRPr sz="1077"/>
            </a:lvl6pPr>
            <a:lvl7pPr marL="2954701" indent="0">
              <a:buNone/>
              <a:defRPr sz="1077"/>
            </a:lvl7pPr>
            <a:lvl8pPr marL="3447151" indent="0">
              <a:buNone/>
              <a:defRPr sz="1077"/>
            </a:lvl8pPr>
            <a:lvl9pPr marL="3939601" indent="0">
              <a:buNone/>
              <a:defRPr sz="10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04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522" y="492442"/>
            <a:ext cx="4235347" cy="1723549"/>
          </a:xfrm>
        </p:spPr>
        <p:txBody>
          <a:bodyPr anchor="b"/>
          <a:lstStyle>
            <a:lvl1pPr>
              <a:defRPr sz="34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2725" y="1063539"/>
            <a:ext cx="6647974" cy="5249301"/>
          </a:xfrm>
        </p:spPr>
        <p:txBody>
          <a:bodyPr anchor="t"/>
          <a:lstStyle>
            <a:lvl1pPr marL="0" indent="0">
              <a:buNone/>
              <a:defRPr sz="3447"/>
            </a:lvl1pPr>
            <a:lvl2pPr marL="492450" indent="0">
              <a:buNone/>
              <a:defRPr sz="3016"/>
            </a:lvl2pPr>
            <a:lvl3pPr marL="984900" indent="0">
              <a:buNone/>
              <a:defRPr sz="2585"/>
            </a:lvl3pPr>
            <a:lvl4pPr marL="1477350" indent="0">
              <a:buNone/>
              <a:defRPr sz="2154"/>
            </a:lvl4pPr>
            <a:lvl5pPr marL="1969800" indent="0">
              <a:buNone/>
              <a:defRPr sz="2154"/>
            </a:lvl5pPr>
            <a:lvl6pPr marL="2462251" indent="0">
              <a:buNone/>
              <a:defRPr sz="2154"/>
            </a:lvl6pPr>
            <a:lvl7pPr marL="2954701" indent="0">
              <a:buNone/>
              <a:defRPr sz="2154"/>
            </a:lvl7pPr>
            <a:lvl8pPr marL="3447151" indent="0">
              <a:buNone/>
              <a:defRPr sz="2154"/>
            </a:lvl8pPr>
            <a:lvl9pPr marL="3939601" indent="0">
              <a:buNone/>
              <a:defRPr sz="21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4522" y="2215991"/>
            <a:ext cx="4235347" cy="4105398"/>
          </a:xfrm>
        </p:spPr>
        <p:txBody>
          <a:bodyPr/>
          <a:lstStyle>
            <a:lvl1pPr marL="0" indent="0">
              <a:buNone/>
              <a:defRPr sz="1723"/>
            </a:lvl1pPr>
            <a:lvl2pPr marL="492450" indent="0">
              <a:buNone/>
              <a:defRPr sz="1508"/>
            </a:lvl2pPr>
            <a:lvl3pPr marL="984900" indent="0">
              <a:buNone/>
              <a:defRPr sz="1293"/>
            </a:lvl3pPr>
            <a:lvl4pPr marL="1477350" indent="0">
              <a:buNone/>
              <a:defRPr sz="1077"/>
            </a:lvl4pPr>
            <a:lvl5pPr marL="1969800" indent="0">
              <a:buNone/>
              <a:defRPr sz="1077"/>
            </a:lvl5pPr>
            <a:lvl6pPr marL="2462251" indent="0">
              <a:buNone/>
              <a:defRPr sz="1077"/>
            </a:lvl6pPr>
            <a:lvl7pPr marL="2954701" indent="0">
              <a:buNone/>
              <a:defRPr sz="1077"/>
            </a:lvl7pPr>
            <a:lvl8pPr marL="3447151" indent="0">
              <a:buNone/>
              <a:defRPr sz="1077"/>
            </a:lvl8pPr>
            <a:lvl9pPr marL="3939601" indent="0">
              <a:buNone/>
              <a:defRPr sz="10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22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72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97445" y="393270"/>
            <a:ext cx="2831544" cy="62598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2811" y="393270"/>
            <a:ext cx="8330486" cy="62598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05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2811" y="393271"/>
            <a:ext cx="11326178" cy="1427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811" y="1966350"/>
            <a:ext cx="11326178" cy="4686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2811" y="6846320"/>
            <a:ext cx="2954655" cy="3932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1A8DB-AB3A-4A3D-B199-FBA3EFAF3F3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9909" y="6846320"/>
            <a:ext cx="4431983" cy="3932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74334" y="6846320"/>
            <a:ext cx="2954655" cy="3932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D78FF-43CD-4F7E-AB59-F14D0E0C02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14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84900" rtl="0" eaLnBrk="1" latinLnBrk="0" hangingPunct="1">
        <a:lnSpc>
          <a:spcPct val="90000"/>
        </a:lnSpc>
        <a:spcBef>
          <a:spcPct val="0"/>
        </a:spcBef>
        <a:buNone/>
        <a:defRPr sz="47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225" indent="-246225" algn="l" defTabSz="984900" rtl="0" eaLnBrk="1" latinLnBrk="0" hangingPunct="1">
        <a:lnSpc>
          <a:spcPct val="90000"/>
        </a:lnSpc>
        <a:spcBef>
          <a:spcPts val="1077"/>
        </a:spcBef>
        <a:buFont typeface="Arial" panose="020B0604020202020204" pitchFamily="34" charset="0"/>
        <a:buChar char="•"/>
        <a:defRPr sz="3016" kern="1200">
          <a:solidFill>
            <a:schemeClr val="tx1"/>
          </a:solidFill>
          <a:latin typeface="+mn-lt"/>
          <a:ea typeface="+mn-ea"/>
          <a:cs typeface="+mn-cs"/>
        </a:defRPr>
      </a:lvl1pPr>
      <a:lvl2pPr marL="738675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231125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2154" kern="1200">
          <a:solidFill>
            <a:schemeClr val="tx1"/>
          </a:solidFill>
          <a:latin typeface="+mn-lt"/>
          <a:ea typeface="+mn-ea"/>
          <a:cs typeface="+mn-cs"/>
        </a:defRPr>
      </a:lvl3pPr>
      <a:lvl4pPr marL="1723575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4pPr>
      <a:lvl5pPr marL="2216026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5pPr>
      <a:lvl6pPr marL="2708476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6pPr>
      <a:lvl7pPr marL="3200926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7pPr>
      <a:lvl8pPr marL="3693376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8pPr>
      <a:lvl9pPr marL="4185826" indent="-246225" algn="l" defTabSz="984900" rtl="0" eaLnBrk="1" latinLnBrk="0" hangingPunct="1">
        <a:lnSpc>
          <a:spcPct val="90000"/>
        </a:lnSpc>
        <a:spcBef>
          <a:spcPts val="539"/>
        </a:spcBef>
        <a:buFont typeface="Arial" panose="020B0604020202020204" pitchFamily="34" charset="0"/>
        <a:buChar char="•"/>
        <a:defRPr sz="19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1pPr>
      <a:lvl2pPr marL="492450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984900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3pPr>
      <a:lvl4pPr marL="1477350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4pPr>
      <a:lvl5pPr marL="1969800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5pPr>
      <a:lvl6pPr marL="2462251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6pPr>
      <a:lvl7pPr marL="2954701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7pPr>
      <a:lvl8pPr marL="3447151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8pPr>
      <a:lvl9pPr marL="3939601" algn="l" defTabSz="984900" rtl="0" eaLnBrk="1" latinLnBrk="0" hangingPunct="1">
        <a:defRPr sz="19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F77DB-F924-BC97-7D74-D3F6DEA0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FD393CCB-83F5-977A-042B-455E62ED8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51"/>
          <a:stretch>
            <a:fillRect/>
          </a:stretch>
        </p:blipFill>
        <p:spPr>
          <a:xfrm>
            <a:off x="3643590" y="-289176"/>
            <a:ext cx="6209359" cy="2192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DD77B2-7F77-CE24-0261-073C48F61002}"/>
              </a:ext>
            </a:extLst>
          </p:cNvPr>
          <p:cNvSpPr txBox="1"/>
          <p:nvPr/>
        </p:nvSpPr>
        <p:spPr>
          <a:xfrm>
            <a:off x="1632390" y="3100411"/>
            <a:ext cx="1054743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GB" sz="32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Developing AI-driven framework that automates both detection and clinical stratification of DFU classification and severity mapping</a:t>
            </a:r>
            <a:endParaRPr lang="en-GB" sz="1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4F3AF72-F3B1-2ED1-B7BC-F1B6008E2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667242"/>
              </p:ext>
            </p:extLst>
          </p:nvPr>
        </p:nvGraphicFramePr>
        <p:xfrm>
          <a:off x="3062905" y="4923440"/>
          <a:ext cx="7370723" cy="1271016"/>
        </p:xfrm>
        <a:graphic>
          <a:graphicData uri="http://schemas.openxmlformats.org/drawingml/2006/table">
            <a:tbl>
              <a:tblPr firstRow="1" firstCol="1">
                <a:tableStyleId>{69012ECD-51FC-41F1-AA8D-1B2483CD663E}</a:tableStyleId>
              </a:tblPr>
              <a:tblGrid>
                <a:gridCol w="4490557">
                  <a:extLst>
                    <a:ext uri="{9D8B030D-6E8A-4147-A177-3AD203B41FA5}">
                      <a16:colId xmlns:a16="http://schemas.microsoft.com/office/drawing/2014/main" val="2695292642"/>
                    </a:ext>
                  </a:extLst>
                </a:gridCol>
                <a:gridCol w="2880166">
                  <a:extLst>
                    <a:ext uri="{9D8B030D-6E8A-4147-A177-3AD203B41FA5}">
                      <a16:colId xmlns:a16="http://schemas.microsoft.com/office/drawing/2014/main" val="1412446993"/>
                    </a:ext>
                  </a:extLst>
                </a:gridCol>
              </a:tblGrid>
              <a:tr h="3845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Name 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Matric Number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42705575"/>
                  </a:ext>
                </a:extLst>
              </a:tr>
              <a:tr h="632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Muhammad Rashidul Bukhari Bin Asan Mohamed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22004502/1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54097504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F891CD8A-54CF-1DCB-39EA-B73951BE4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631" y="6499670"/>
            <a:ext cx="7210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PREPARED FOR: ASSOCIATE PROF. IR. DR. CHOW CHEE ONN</a:t>
            </a: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760769-5C93-F3D8-5D96-EF4ADA73339E}"/>
              </a:ext>
            </a:extLst>
          </p:cNvPr>
          <p:cNvSpPr txBox="1"/>
          <p:nvPr/>
        </p:nvSpPr>
        <p:spPr>
          <a:xfrm>
            <a:off x="4918021" y="1827690"/>
            <a:ext cx="3660493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KIE4033 </a:t>
            </a:r>
            <a:r>
              <a:rPr lang="en-GB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Analytics 2025/2026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F59FE0-9632-E40F-52EA-2667C7FC095C}"/>
              </a:ext>
            </a:extLst>
          </p:cNvPr>
          <p:cNvSpPr txBox="1"/>
          <p:nvPr/>
        </p:nvSpPr>
        <p:spPr>
          <a:xfrm>
            <a:off x="5305774" y="2382990"/>
            <a:ext cx="2884989" cy="42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Assignment 2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71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849A-7BD6-9050-BF73-95740D7C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US" sz="4596" b="1" dirty="0"/>
              <a:t>Abstract</a:t>
            </a:r>
            <a:endParaRPr lang="en-GB" sz="45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A5E8D-4F8D-9921-C361-964C690F3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291" y="4205297"/>
            <a:ext cx="10493429" cy="30441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An AI-driven framework that automates detection and clinical stratification using bio-medical feature engineering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Results: </a:t>
            </a:r>
          </a:p>
          <a:p>
            <a:pPr marL="514350" indent="-514350">
              <a:buAutoNum type="arabicPeriod"/>
            </a:pPr>
            <a:r>
              <a:rPr lang="en-US" altLang="en-US" sz="2600" dirty="0"/>
              <a:t>Optimized Random Forest achieved </a:t>
            </a:r>
            <a:r>
              <a:rPr lang="en-US" altLang="en-US" sz="2600" b="1" dirty="0"/>
              <a:t>94% accuracy</a:t>
            </a:r>
            <a:r>
              <a:rPr lang="en-US" altLang="en-US" sz="2600" dirty="0"/>
              <a:t> (0.99 AUC)</a:t>
            </a:r>
          </a:p>
          <a:p>
            <a:pPr marL="514350" indent="-514350">
              <a:buAutoNum type="arabicPeriod"/>
            </a:pPr>
            <a:r>
              <a:rPr lang="en-US" altLang="en-US" sz="2600" dirty="0"/>
              <a:t>K-Means clustering </a:t>
            </a:r>
            <a:r>
              <a:rPr lang="en-US" altLang="en-US" sz="2600" b="1" dirty="0"/>
              <a:t>(K=6) </a:t>
            </a:r>
            <a:r>
              <a:rPr lang="en-US" altLang="en-US" sz="2600" dirty="0"/>
              <a:t>programmatically maps wounds to the clinical </a:t>
            </a:r>
            <a:r>
              <a:rPr lang="en-US" altLang="en-US" sz="2600" b="1" dirty="0"/>
              <a:t>Wagner Classification System</a:t>
            </a:r>
            <a:r>
              <a:rPr lang="en-US" altLang="en-US" sz="26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3BA2E-6C63-3F69-4F1E-99A9CD280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02" y="1277118"/>
            <a:ext cx="1146371" cy="12972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8BF735-1232-F379-DDE9-31C4FF47B37C}"/>
              </a:ext>
            </a:extLst>
          </p:cNvPr>
          <p:cNvSpPr txBox="1"/>
          <p:nvPr/>
        </p:nvSpPr>
        <p:spPr>
          <a:xfrm>
            <a:off x="2506291" y="1477885"/>
            <a:ext cx="10416396" cy="88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Diabetic foot ulcers (DFUs) require precise monitoring to prevent life-threatening amputations.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937B3E-3830-38FD-C4E1-69C59A367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40" y="2899632"/>
            <a:ext cx="1436291" cy="9848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C79F5D-B34D-77F1-EC97-B1DCDD31587F}"/>
              </a:ext>
            </a:extLst>
          </p:cNvPr>
          <p:cNvSpPr txBox="1"/>
          <p:nvPr/>
        </p:nvSpPr>
        <p:spPr>
          <a:xfrm>
            <a:off x="2506291" y="3038224"/>
            <a:ext cx="10625509" cy="88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Previous RM-2 monitoring device relied on geometric data (area, perimeter), failing to capture biological states like infection or necrosis.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D3A3DA-E581-D58C-C27C-4D12655BA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40" y="4342457"/>
            <a:ext cx="1436291" cy="155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9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DBDF7-5CA5-AC6F-F1B0-DE5DA548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4B14-526C-2C9D-1BB9-021713A5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US" sz="4596" b="1" dirty="0"/>
              <a:t>Introduction</a:t>
            </a:r>
            <a:endParaRPr lang="en-GB" sz="45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4E72D-E9E2-E49E-43E6-4249159C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589" y="2815094"/>
            <a:ext cx="7084060" cy="24972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600" dirty="0"/>
              <a:t>Uses CIE LAB colour space to assess Erythema (inflammation) and Necrosis (tissue death) independently of lighting conditions.</a:t>
            </a:r>
          </a:p>
          <a:p>
            <a:pPr marL="0" indent="0" algn="just">
              <a:buNone/>
            </a:pPr>
            <a:r>
              <a:rPr lang="en-US" altLang="en-US" sz="2600" dirty="0"/>
              <a:t>Enable remote specialist triage by distinguishing healthy skin from ulcers and defining six stages of clinical severity.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52F1A-495C-B357-903A-369093DD7BC5}"/>
              </a:ext>
            </a:extLst>
          </p:cNvPr>
          <p:cNvSpPr txBox="1"/>
          <p:nvPr/>
        </p:nvSpPr>
        <p:spPr>
          <a:xfrm>
            <a:off x="355545" y="3381768"/>
            <a:ext cx="4526280" cy="168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600" dirty="0"/>
              <a:t>Patients in rural areas (e.g., Sabah) often delay treatment due to travel distances and financial costs.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9CF22-F607-A2D2-EB22-A4A2FB612DDF}"/>
              </a:ext>
            </a:extLst>
          </p:cNvPr>
          <p:cNvSpPr txBox="1"/>
          <p:nvPr/>
        </p:nvSpPr>
        <p:spPr>
          <a:xfrm>
            <a:off x="4259547" y="6118862"/>
            <a:ext cx="784586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600" dirty="0"/>
              <a:t>Transitions the RM-2 tool from a "reactive wound tracker" to a proactive medical companion.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8599D-1029-984C-907B-20DC1685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620"/>
          <a:stretch>
            <a:fillRect/>
          </a:stretch>
        </p:blipFill>
        <p:spPr>
          <a:xfrm>
            <a:off x="243151" y="768207"/>
            <a:ext cx="4526280" cy="2497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94669-29FC-385A-8F05-3310E72D8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915" y="6154164"/>
            <a:ext cx="2667000" cy="857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014090-E505-EF27-4BB9-49461053FF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8" t="5854" r="53427" b="3829"/>
          <a:stretch>
            <a:fillRect/>
          </a:stretch>
        </p:blipFill>
        <p:spPr>
          <a:xfrm>
            <a:off x="9795739" y="220643"/>
            <a:ext cx="2309677" cy="24413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AB141D-D788-3601-1A3B-9B743DE5E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900" y="1033551"/>
            <a:ext cx="29337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1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D5A50-33B7-B4FA-D9F6-C5C1B3CC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90B7-B607-F584-9385-8A61A296E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US" sz="4596" b="1" dirty="0"/>
              <a:t>Problem Definition</a:t>
            </a:r>
            <a:endParaRPr lang="en-GB" sz="4596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9C1BDD-377D-32BB-1D43-F494A2E21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19" y="1320037"/>
            <a:ext cx="1708260" cy="19330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05B607-16C9-68FD-9832-E1729E294C60}"/>
              </a:ext>
            </a:extLst>
          </p:cNvPr>
          <p:cNvSpPr txBox="1"/>
          <p:nvPr/>
        </p:nvSpPr>
        <p:spPr>
          <a:xfrm>
            <a:off x="1017597" y="3370739"/>
            <a:ext cx="31781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Size alone does not represent biological status, infection and necrosis can develop internally without changing wound dimensions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308C0-88BC-B7A7-1B28-2E3609265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710" y="1714520"/>
            <a:ext cx="2223519" cy="1218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69837-2A15-0AA9-6B84-C026A32B5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6934" y="1583823"/>
            <a:ext cx="2035290" cy="1480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BD25F-CF14-7743-E9B0-920E5B4D6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34" y="5312370"/>
            <a:ext cx="2965724" cy="19541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FE0716-21E9-A430-56C3-7F5E16C02940}"/>
              </a:ext>
            </a:extLst>
          </p:cNvPr>
          <p:cNvSpPr txBox="1"/>
          <p:nvPr/>
        </p:nvSpPr>
        <p:spPr>
          <a:xfrm>
            <a:off x="1011690" y="956949"/>
            <a:ext cx="3728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Pillar 1: Geometric Limitations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6A55F8-003C-87F7-25E7-617110099264}"/>
              </a:ext>
            </a:extLst>
          </p:cNvPr>
          <p:cNvSpPr txBox="1"/>
          <p:nvPr/>
        </p:nvSpPr>
        <p:spPr>
          <a:xfrm>
            <a:off x="5236352" y="950705"/>
            <a:ext cx="332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Pillar 2: Triage Bottleneck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9D8FE-FE11-6238-EB07-2A98C1C3EEB5}"/>
              </a:ext>
            </a:extLst>
          </p:cNvPr>
          <p:cNvSpPr txBox="1"/>
          <p:nvPr/>
        </p:nvSpPr>
        <p:spPr>
          <a:xfrm>
            <a:off x="4853812" y="3370739"/>
            <a:ext cx="40822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High patient volume and low specialist availability in rural areas create decision-making delays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C0BE9-BA75-013F-5A40-CD3D0C1B8406}"/>
              </a:ext>
            </a:extLst>
          </p:cNvPr>
          <p:cNvSpPr txBox="1"/>
          <p:nvPr/>
        </p:nvSpPr>
        <p:spPr>
          <a:xfrm>
            <a:off x="9402974" y="3370739"/>
            <a:ext cx="34241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Variations in lighting and skin tones make simple pixel measurements inconsistent.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8B5CAC-DCC0-D172-053E-809B0923E144}"/>
              </a:ext>
            </a:extLst>
          </p:cNvPr>
          <p:cNvSpPr txBox="1"/>
          <p:nvPr/>
        </p:nvSpPr>
        <p:spPr>
          <a:xfrm>
            <a:off x="9693165" y="950705"/>
            <a:ext cx="2992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Pillar 3: User Variability</a:t>
            </a:r>
            <a:endParaRPr lang="en-GB" sz="20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C583D0-53EF-D498-E341-D6098146B585}"/>
              </a:ext>
            </a:extLst>
          </p:cNvPr>
          <p:cNvCxnSpPr>
            <a:cxnSpLocks/>
          </p:cNvCxnSpPr>
          <p:nvPr/>
        </p:nvCxnSpPr>
        <p:spPr>
          <a:xfrm>
            <a:off x="0" y="5101936"/>
            <a:ext cx="13211503" cy="65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CF07EC0-EBDD-8005-A583-92E2ABFD8166}"/>
              </a:ext>
            </a:extLst>
          </p:cNvPr>
          <p:cNvSpPr txBox="1"/>
          <p:nvPr/>
        </p:nvSpPr>
        <p:spPr>
          <a:xfrm>
            <a:off x="4195708" y="5916359"/>
            <a:ext cx="7744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Automate detection (Supervised ML) of ulcer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Automated severity strategy (Unsupervised ML)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Mapped Severity to the Wagner Scale to be used by doctors (no ambiguity)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9B65CA-3EF7-998B-64A9-1F50D12311E6}"/>
              </a:ext>
            </a:extLst>
          </p:cNvPr>
          <p:cNvSpPr txBox="1"/>
          <p:nvPr/>
        </p:nvSpPr>
        <p:spPr>
          <a:xfrm>
            <a:off x="4195708" y="5433483"/>
            <a:ext cx="66110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Core Objectives</a:t>
            </a:r>
          </a:p>
        </p:txBody>
      </p:sp>
    </p:spTree>
    <p:extLst>
      <p:ext uri="{BB962C8B-B14F-4D97-AF65-F5344CB8AC3E}">
        <p14:creationId xmlns:p14="http://schemas.microsoft.com/office/powerpoint/2010/main" val="1605973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B57F3-7A52-509A-F940-25238E74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98C2-46C1-3A9C-B9EA-DAAFAFCE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US" sz="4596" b="1" dirty="0"/>
              <a:t>Data Description &amp; Preprocessing</a:t>
            </a:r>
            <a:endParaRPr lang="en-GB" sz="4596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3812D-041F-D4FE-356A-F999698A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1" y="1002946"/>
            <a:ext cx="642253" cy="21331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98B9D9-10E5-A5C6-278E-33B6A272A57E}"/>
              </a:ext>
            </a:extLst>
          </p:cNvPr>
          <p:cNvSpPr txBox="1"/>
          <p:nvPr/>
        </p:nvSpPr>
        <p:spPr>
          <a:xfrm>
            <a:off x="989094" y="1104818"/>
            <a:ext cx="5958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Dataset</a:t>
            </a:r>
            <a:r>
              <a:rPr lang="en-GB" dirty="0"/>
              <a:t>: Medically validated Kaggle DFU dataset</a:t>
            </a:r>
          </a:p>
          <a:p>
            <a:endParaRPr lang="en-GB" dirty="0"/>
          </a:p>
          <a:p>
            <a:r>
              <a:rPr lang="en-GB" b="1" dirty="0"/>
              <a:t>Internal Set</a:t>
            </a:r>
            <a:r>
              <a:rPr lang="en-GB" dirty="0"/>
              <a:t>: 1,055 images (512 Ulcer + 543 Healthy) for training and testing</a:t>
            </a:r>
          </a:p>
          <a:p>
            <a:endParaRPr lang="en-GB" dirty="0"/>
          </a:p>
          <a:p>
            <a:r>
              <a:rPr lang="en-GB" b="1" dirty="0"/>
              <a:t>External Set</a:t>
            </a:r>
            <a:r>
              <a:rPr lang="en-GB" dirty="0"/>
              <a:t>: 167 ulcer-only images for independent validation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1FF309-90F6-9CA7-3D28-0DD8F14BD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41" y="4325904"/>
            <a:ext cx="3488874" cy="21331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839BB5-1ED3-842C-F21C-081C3C303F55}"/>
              </a:ext>
            </a:extLst>
          </p:cNvPr>
          <p:cNvSpPr txBox="1"/>
          <p:nvPr/>
        </p:nvSpPr>
        <p:spPr>
          <a:xfrm>
            <a:off x="667967" y="3774350"/>
            <a:ext cx="2858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Preprocessing Pipeline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1A6766-FF6E-83D7-F736-F5C22246E9B2}"/>
              </a:ext>
            </a:extLst>
          </p:cNvPr>
          <p:cNvSpPr txBox="1"/>
          <p:nvPr/>
        </p:nvSpPr>
        <p:spPr>
          <a:xfrm>
            <a:off x="4267200" y="3961341"/>
            <a:ext cx="83949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Images Standardization &amp; Denoising: 256 x 256 pixels with Median Filtering</a:t>
            </a:r>
          </a:p>
          <a:p>
            <a:endParaRPr lang="en-GB" dirty="0"/>
          </a:p>
          <a:p>
            <a:r>
              <a:rPr lang="en-GB" dirty="0"/>
              <a:t>Clinical Colour Space Transformation: Transformation to CIE LAB colour space for lighting invariance</a:t>
            </a:r>
          </a:p>
          <a:p>
            <a:endParaRPr lang="en-GB" dirty="0"/>
          </a:p>
          <a:p>
            <a:r>
              <a:rPr lang="en-GB" dirty="0"/>
              <a:t>Morphological Segmentation : Otsu’s Thresholding for automated wound region extraction</a:t>
            </a:r>
          </a:p>
          <a:p>
            <a:endParaRPr lang="en-GB" dirty="0"/>
          </a:p>
          <a:p>
            <a:r>
              <a:rPr lang="en-GB" dirty="0"/>
              <a:t>Dealing with Missing Values in Outlier Data: Avoid any image where it is not possible to segment out the main affected area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70B4939-FFAE-A3DE-D5EA-16ADDDFBA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73976"/>
              </p:ext>
            </p:extLst>
          </p:nvPr>
        </p:nvGraphicFramePr>
        <p:xfrm>
          <a:off x="6652183" y="1039055"/>
          <a:ext cx="6207760" cy="2152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9019">
                  <a:extLst>
                    <a:ext uri="{9D8B030D-6E8A-4147-A177-3AD203B41FA5}">
                      <a16:colId xmlns:a16="http://schemas.microsoft.com/office/drawing/2014/main" val="3801330465"/>
                    </a:ext>
                  </a:extLst>
                </a:gridCol>
                <a:gridCol w="2580731">
                  <a:extLst>
                    <a:ext uri="{9D8B030D-6E8A-4147-A177-3AD203B41FA5}">
                      <a16:colId xmlns:a16="http://schemas.microsoft.com/office/drawing/2014/main" val="1822914976"/>
                    </a:ext>
                  </a:extLst>
                </a:gridCol>
                <a:gridCol w="2538010">
                  <a:extLst>
                    <a:ext uri="{9D8B030D-6E8A-4147-A177-3AD203B41FA5}">
                      <a16:colId xmlns:a16="http://schemas.microsoft.com/office/drawing/2014/main" val="4044515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Group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Features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Purpose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3634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Geometric Features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Area, Perimeter, Solidity &amp; Eccentricity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Calculated to refine the basic metrics used by Group RM-2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5568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Bio-Medical Features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Erythema Index (mean A-channel) </a:t>
                      </a:r>
                      <a:endParaRPr lang="en-GB" sz="1200" kern="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Necrosis Index (mean L-channel)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Calculated to provide the biological context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1346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Tissue Complexity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Colour Variance (standard deviation of the image)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Used as digital fingerprint for the heterogeneity of complex ulcerous tissue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0923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effectLst/>
                        </a:rPr>
                        <a:t>Target Feature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 dirty="0">
                          <a:effectLst/>
                        </a:rPr>
                        <a:t>Presence of Ulcer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 dirty="0">
                          <a:effectLst/>
                        </a:rPr>
                        <a:t>Binary value indicating ulcer present: 1 and ulcer absent: 0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9490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948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1D6D4-7C9E-5E08-3BE6-704FAEFA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131800" cy="7386637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26808" y="1526807"/>
            <a:ext cx="7405829" cy="435221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70712" y="2865551"/>
            <a:ext cx="4691338" cy="434991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271908" y="1764354"/>
            <a:ext cx="7386177" cy="385746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804964" y="1293913"/>
            <a:ext cx="5178942" cy="4403834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8CE9D-9DEF-E0EE-70E0-BA786B46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19" y="2980403"/>
            <a:ext cx="3102891" cy="9166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4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C3BA-14B4-4EB9-B70C-C3FCAD8C2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669" y="712870"/>
            <a:ext cx="8669723" cy="596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8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A1914-F8EA-10C6-0A1D-951537B9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131800" cy="7386637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26808" y="1526807"/>
            <a:ext cx="7405829" cy="435221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70712" y="2865551"/>
            <a:ext cx="4691338" cy="434991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271908" y="1764354"/>
            <a:ext cx="7386177" cy="385746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804964" y="1293913"/>
            <a:ext cx="5178942" cy="4403834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FA3DE-AC95-6B05-30E0-1F61113A4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19" y="2980403"/>
            <a:ext cx="3102891" cy="3308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4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B7513-9F73-7596-2B49-443472C3E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260" y="128015"/>
            <a:ext cx="8315035" cy="713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0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B8024-DBC9-AD5B-6705-D8EFC676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4B48C7-B94B-C59C-D887-99C1C33E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131800" cy="7386637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60BE6-0128-E905-56BC-5340DBF6D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26808" y="1526807"/>
            <a:ext cx="7405829" cy="435221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5BE4B-8E6A-34E2-67A2-646DE240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70712" y="2865551"/>
            <a:ext cx="4691338" cy="434991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F220C8-2D9F-D088-B23D-8C543D14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271908" y="1764354"/>
            <a:ext cx="7386177" cy="385746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626DA07-7FB9-86F2-46C4-B4709938D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804964" y="1293913"/>
            <a:ext cx="5178942" cy="4403834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58772-9E25-A9B0-2BDF-6C80E1C40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19" y="2980403"/>
            <a:ext cx="3102891" cy="33086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43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AB2C8B-067F-7D69-3482-3A268A11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68" y="353948"/>
            <a:ext cx="7308124" cy="669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9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67E62-6AF0-6E71-F83C-01B7C5D7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19E1-1C36-DFE3-588A-794C0F17F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Proposed AI-based Solution Concept</a:t>
            </a:r>
            <a:endParaRPr lang="en-GB" sz="4596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612C15-1F0B-AB34-6D70-842E19DD88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25" r="50000" b="22048"/>
          <a:stretch>
            <a:fillRect/>
          </a:stretch>
        </p:blipFill>
        <p:spPr>
          <a:xfrm>
            <a:off x="665843" y="1077686"/>
            <a:ext cx="4876800" cy="34943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E93027-49D8-E535-94E5-3AE5A599D0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11506" b="22866"/>
          <a:stretch>
            <a:fillRect/>
          </a:stretch>
        </p:blipFill>
        <p:spPr>
          <a:xfrm>
            <a:off x="6565900" y="1077686"/>
            <a:ext cx="4876801" cy="34943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D53CDC-1CF4-5B87-4AE8-D37DD081B2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543"/>
          <a:stretch>
            <a:fillRect/>
          </a:stretch>
        </p:blipFill>
        <p:spPr>
          <a:xfrm>
            <a:off x="895300" y="5116891"/>
            <a:ext cx="11149360" cy="136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34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11177-C3D8-86FB-8EB4-412C8B22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4A54-F4FA-1031-8DF7-E809B677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Result and Discussion</a:t>
            </a:r>
            <a:endParaRPr lang="en-GB" sz="4596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2E1A8-C815-E7D7-3C87-ACA3BB10142F}"/>
              </a:ext>
            </a:extLst>
          </p:cNvPr>
          <p:cNvSpPr txBox="1"/>
          <p:nvPr/>
        </p:nvSpPr>
        <p:spPr>
          <a:xfrm>
            <a:off x="87087" y="3112706"/>
            <a:ext cx="14807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Automated Ulcer Detection (Supervised Learning)</a:t>
            </a:r>
            <a:endParaRPr lang="en-GB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46F3F-BFF8-A6AE-F2FD-56BCD27B0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77" y="881926"/>
            <a:ext cx="5718645" cy="2811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DB1EEB-46B9-EDC0-46A1-FD41AEE8B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838" y="4106196"/>
            <a:ext cx="3905736" cy="3192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ECF4BF-A16E-885C-DA35-8D777FCE8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820" y="881926"/>
            <a:ext cx="3918580" cy="3082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5D87E0-39F1-C5B6-EE65-823A1E14A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078" y="3952538"/>
            <a:ext cx="5725884" cy="33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6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6AB79-9E01-36F3-4B8D-688804F4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DE47-1961-33FF-535A-D11C3B4D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Result and Discussion</a:t>
            </a:r>
            <a:endParaRPr lang="en-GB" sz="4596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C0C61-E3DD-BBCD-0A7A-36997CCA6D61}"/>
              </a:ext>
            </a:extLst>
          </p:cNvPr>
          <p:cNvSpPr txBox="1"/>
          <p:nvPr/>
        </p:nvSpPr>
        <p:spPr>
          <a:xfrm>
            <a:off x="0" y="3137254"/>
            <a:ext cx="17552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Severity based Triage and Wagner Mapping (Unsupervised Learning)</a:t>
            </a:r>
            <a:endParaRPr lang="en-GB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A9FB1-59FD-5420-B951-D80BD2EAD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631" y="1022998"/>
            <a:ext cx="5308828" cy="2715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1639F-2674-3138-EAA3-CD95AD8F0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71" y="1022998"/>
            <a:ext cx="6012542" cy="3868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88DD95-6905-2A7A-4ABE-5C31EE6ED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631" y="5283994"/>
            <a:ext cx="10277112" cy="167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4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DD840-46CA-2C5E-61DB-2C472DA8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3560-BEAB-AB76-A2D2-9D57A75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94" y="-150624"/>
            <a:ext cx="11326178" cy="1427742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Conclusion</a:t>
            </a:r>
            <a:endParaRPr lang="en-GB" sz="4596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D9AB2-41F9-C6F9-12B4-4174925BF5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1" t="38811" r="66406" b="4887"/>
          <a:stretch>
            <a:fillRect/>
          </a:stretch>
        </p:blipFill>
        <p:spPr>
          <a:xfrm>
            <a:off x="187114" y="1175655"/>
            <a:ext cx="3678829" cy="38220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399207-D170-6CD9-1B17-C20F97C177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93" t="38493" r="34728" b="4261"/>
          <a:stretch>
            <a:fillRect/>
          </a:stretch>
        </p:blipFill>
        <p:spPr>
          <a:xfrm>
            <a:off x="4719288" y="1175655"/>
            <a:ext cx="3678830" cy="38220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C35011-7ED2-5EED-6ED0-B0ECD57DA4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70" t="38567" r="3943" b="4532"/>
          <a:stretch>
            <a:fillRect/>
          </a:stretch>
        </p:blipFill>
        <p:spPr>
          <a:xfrm>
            <a:off x="9260582" y="1162083"/>
            <a:ext cx="3652888" cy="3822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AED3AE-2232-A510-F028-025A8820F1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3" t="21072" r="74642" b="62701"/>
          <a:stretch>
            <a:fillRect/>
          </a:stretch>
        </p:blipFill>
        <p:spPr>
          <a:xfrm>
            <a:off x="1817224" y="6140616"/>
            <a:ext cx="2048719" cy="8639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19AE92-5002-7408-7118-C5DC420EA906}"/>
              </a:ext>
            </a:extLst>
          </p:cNvPr>
          <p:cNvSpPr txBox="1"/>
          <p:nvPr/>
        </p:nvSpPr>
        <p:spPr>
          <a:xfrm>
            <a:off x="4314388" y="6134257"/>
            <a:ext cx="81674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Al framework transforms passive monitoring into a proactive, bio-medically focused health assistant.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D7DF5F-3570-C1FD-7885-CC1C18FB0AAF}"/>
              </a:ext>
            </a:extLst>
          </p:cNvPr>
          <p:cNvSpPr txBox="1"/>
          <p:nvPr/>
        </p:nvSpPr>
        <p:spPr>
          <a:xfrm>
            <a:off x="1242219" y="5611037"/>
            <a:ext cx="3652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Overall Conclusion</a:t>
            </a:r>
          </a:p>
        </p:txBody>
      </p:sp>
    </p:spTree>
    <p:extLst>
      <p:ext uri="{BB962C8B-B14F-4D97-AF65-F5344CB8AC3E}">
        <p14:creationId xmlns:p14="http://schemas.microsoft.com/office/powerpoint/2010/main" val="8638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184</TotalTime>
  <Words>523</Words>
  <Application>Microsoft Office PowerPoint</Application>
  <PresentationFormat>Custom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Abstract</vt:lpstr>
      <vt:lpstr>Introduction</vt:lpstr>
      <vt:lpstr>Problem Definition</vt:lpstr>
      <vt:lpstr>Data Description &amp; Preprocessing</vt:lpstr>
      <vt:lpstr>EDA</vt:lpstr>
      <vt:lpstr>EDA</vt:lpstr>
      <vt:lpstr>EDA</vt:lpstr>
      <vt:lpstr>Proposed AI-based Solution Concept</vt:lpstr>
      <vt:lpstr>Result and Discussion</vt:lpstr>
      <vt:lpstr>Result and 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MUHAMAD RASHIDUL BUKHARI BIN ASAN MOHAMED</dc:creator>
  <cp:lastModifiedBy>MUHAMAD RASHIDUL BUKHARI BIN ASAN MOHAMED</cp:lastModifiedBy>
  <cp:revision>14</cp:revision>
  <dcterms:created xsi:type="dcterms:W3CDTF">2026-01-17T15:21:30Z</dcterms:created>
  <dcterms:modified xsi:type="dcterms:W3CDTF">2026-01-17T18:25:53Z</dcterms:modified>
</cp:coreProperties>
</file>